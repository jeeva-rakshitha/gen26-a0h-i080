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5" r:id="rId6"/>
    <p:sldId id="266"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5"/>
            <p14:sldId id="266"/>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03A5B1-DF91-4182-8C6C-A237030FFF3A}" v="87" dt="2026-10-09T17:00:29.797"/>
    <p1510:client id="{D62B6F61-686D-484F-0A0C-3D425904D012}" v="4" dt="2026-10-09T16:11:17.7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rigaa Dhatchinamurthy" userId="cb7c664c77a08cce" providerId="LiveId" clId="{20E851AC-AA6C-4D62-B311-C83B32688CBE}"/>
    <pc:docChg chg="delSld modSection">
      <pc:chgData name="Tharigaa Dhatchinamurthy" userId="cb7c664c77a08cce" providerId="LiveId" clId="{20E851AC-AA6C-4D62-B311-C83B32688CBE}" dt="2026-10-09T17:13:35.779" v="0" actId="2696"/>
      <pc:docMkLst>
        <pc:docMk/>
      </pc:docMkLst>
      <pc:sldChg chg="del">
        <pc:chgData name="Tharigaa Dhatchinamurthy" userId="cb7c664c77a08cce" providerId="LiveId" clId="{20E851AC-AA6C-4D62-B311-C83B32688CBE}" dt="2026-10-09T17:13:35.779" v="0" actId="2696"/>
        <pc:sldMkLst>
          <pc:docMk/>
          <pc:sldMk cId="0"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0540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hyperlink" Target="https://alacamaconunlibro.blogspot.com/2016/04/" TargetMode="External"/><Relationship Id="rId3" Type="http://schemas.openxmlformats.org/officeDocument/2006/relationships/image" Target="../media/image2.png"/><Relationship Id="rId7" Type="http://schemas.openxmlformats.org/officeDocument/2006/relationships/image" Target="../media/image6.gif"/><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hyperlink" Target="https://creativecommons.org/licenses/by-nc-nd/3.0/"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3563355"/>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a:t>
            </a:r>
            <a:r>
              <a:rPr lang="en-US" sz="1800" dirty="0" err="1">
                <a:solidFill>
                  <a:schemeClr val="bg1"/>
                </a:solidFill>
              </a:rPr>
              <a:t>thefourbroskies</a:t>
            </a:r>
            <a:endParaRPr lang="en-US" sz="1800" dirty="0"/>
          </a:p>
          <a:p>
            <a:pPr marL="279400" indent="-279400">
              <a:spcAft>
                <a:spcPts val="1400"/>
              </a:spcAft>
              <a:buClr>
                <a:schemeClr val="accent3"/>
              </a:buClr>
              <a:buSzPct val="100000"/>
              <a:buChar char="•"/>
            </a:pPr>
            <a:r>
              <a:rPr lang="en-US" sz="1800" dirty="0">
                <a:solidFill>
                  <a:schemeClr val="bg1"/>
                </a:solidFill>
              </a:rPr>
              <a:t>Team Members – Jeeva Rakshitha M(CB.EN.U4CCE26016)</a:t>
            </a:r>
          </a:p>
          <a:p>
            <a:pPr>
              <a:spcAft>
                <a:spcPts val="1400"/>
              </a:spcAft>
              <a:buClr>
                <a:schemeClr val="accent3"/>
              </a:buClr>
              <a:buSzPct val="100000"/>
            </a:pPr>
            <a:r>
              <a:rPr lang="en-US" dirty="0">
                <a:solidFill>
                  <a:schemeClr val="bg1"/>
                </a:solidFill>
              </a:rPr>
              <a:t>                                     Pradeesh Kanna M(CB.EN.U4CCE26036)</a:t>
            </a:r>
          </a:p>
          <a:p>
            <a:pPr>
              <a:spcAft>
                <a:spcPts val="1400"/>
              </a:spcAft>
              <a:buClr>
                <a:schemeClr val="accent3"/>
              </a:buClr>
              <a:buSzPct val="100000"/>
            </a:pPr>
            <a:r>
              <a:rPr lang="en-US" sz="1800" dirty="0">
                <a:solidFill>
                  <a:schemeClr val="bg1"/>
                </a:solidFill>
              </a:rPr>
              <a:t>                                    </a:t>
            </a:r>
            <a:r>
              <a:rPr lang="en-US" sz="1800" dirty="0" err="1">
                <a:solidFill>
                  <a:schemeClr val="bg1"/>
                </a:solidFill>
              </a:rPr>
              <a:t>Thaari</a:t>
            </a:r>
            <a:r>
              <a:rPr lang="en-US" dirty="0" err="1">
                <a:solidFill>
                  <a:schemeClr val="bg1"/>
                </a:solidFill>
              </a:rPr>
              <a:t>gaa</a:t>
            </a:r>
            <a:r>
              <a:rPr lang="en-US" dirty="0">
                <a:solidFill>
                  <a:schemeClr val="bg1"/>
                </a:solidFill>
              </a:rPr>
              <a:t> D(CB.EN.U4CCE26003)</a:t>
            </a:r>
          </a:p>
          <a:p>
            <a:pPr>
              <a:spcAft>
                <a:spcPts val="1400"/>
              </a:spcAft>
              <a:buClr>
                <a:schemeClr val="accent3"/>
              </a:buClr>
              <a:buSzPct val="100000"/>
            </a:pPr>
            <a:r>
              <a:rPr lang="en-US" sz="1800" dirty="0">
                <a:solidFill>
                  <a:schemeClr val="bg1"/>
                </a:solidFill>
              </a:rPr>
              <a:t>                                    Dharshan S(</a:t>
            </a:r>
            <a:r>
              <a:rPr lang="en-US" dirty="0">
                <a:solidFill>
                  <a:schemeClr val="bg1"/>
                </a:solidFill>
              </a:rPr>
              <a:t>CB.EN.U4CCE26006</a:t>
            </a:r>
            <a:r>
              <a:rPr lang="en-US" sz="1800" dirty="0">
                <a:solidFill>
                  <a:schemeClr val="bg1"/>
                </a:solidFill>
              </a:rPr>
              <a:t>)</a:t>
            </a:r>
            <a:endParaRPr lang="en-US" sz="1800" dirty="0"/>
          </a:p>
          <a:p>
            <a:pPr marL="279400" indent="-279400">
              <a:spcAft>
                <a:spcPts val="1400"/>
              </a:spcAft>
              <a:buClr>
                <a:schemeClr val="accent3"/>
              </a:buClr>
              <a:buSzPct val="100000"/>
              <a:buChar char="•"/>
            </a:pPr>
            <a:r>
              <a:rPr lang="en-US" sz="1800" dirty="0">
                <a:solidFill>
                  <a:schemeClr val="bg1"/>
                </a:solidFill>
              </a:rPr>
              <a:t>Selected Domain – DOMAIN 7</a:t>
            </a:r>
            <a:endParaRPr lang="en-US" sz="1800" dirty="0"/>
          </a:p>
          <a:p>
            <a:pPr marL="279400" indent="-279400">
              <a:spcAft>
                <a:spcPts val="1400"/>
              </a:spcAft>
              <a:buClr>
                <a:schemeClr val="accent3"/>
              </a:buClr>
              <a:buSzPct val="100000"/>
              <a:buChar char="•"/>
            </a:pPr>
            <a:r>
              <a:rPr lang="en-US" sz="1800" dirty="0">
                <a:solidFill>
                  <a:schemeClr val="bg1"/>
                </a:solidFill>
              </a:rPr>
              <a:t>Problem Statement – Campus Copilot and Spam detector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thefourbroskies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3063236"/>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a:solidFill>
                  <a:schemeClr val="tx1"/>
                </a:solidFill>
              </a:rPr>
              <a:t>What exactly needs to be solved</a:t>
            </a:r>
            <a:r>
              <a:rPr lang="en-US" b="1" dirty="0"/>
              <a:t>?</a:t>
            </a:r>
          </a:p>
          <a:p>
            <a:pPr>
              <a:spcAft>
                <a:spcPts val="1000"/>
              </a:spcAft>
              <a:buClr>
                <a:schemeClr val="accent1"/>
              </a:buClr>
              <a:buSzPct val="100000"/>
            </a:pPr>
            <a:r>
              <a:rPr lang="en-US" dirty="0"/>
              <a:t>     Students have problems with reviewing their course outcomes, timetables, attendance, etc.., on the day-to-day basis. With the help of a separate app (Al agent), it would be easier for the students to look up for their required details through the app, rather than going to separate websites or apps to look for the information, We also link the app with mail to differentiate between college and spam mails.</a:t>
            </a:r>
            <a:endParaRPr lang="en-US" sz="1800" dirty="0"/>
          </a:p>
          <a:p>
            <a:pPr marL="279400" indent="-279400">
              <a:spcAft>
                <a:spcPts val="1000"/>
              </a:spcAft>
              <a:buClr>
                <a:schemeClr val="accent1"/>
              </a:buClr>
              <a:buSzPct val="100000"/>
              <a:buChar char="•"/>
            </a:pPr>
            <a:r>
              <a:rPr lang="en-US" sz="1800" b="1" dirty="0">
                <a:solidFill>
                  <a:schemeClr val="tx1"/>
                </a:solidFill>
              </a:rPr>
              <a:t>Why is it important right now?</a:t>
            </a:r>
          </a:p>
          <a:p>
            <a:pPr>
              <a:spcAft>
                <a:spcPts val="1000"/>
              </a:spcAft>
              <a:buClr>
                <a:schemeClr val="accent1"/>
              </a:buClr>
              <a:buSzPct val="100000"/>
            </a:pPr>
            <a:r>
              <a:rPr lang="en-US" dirty="0"/>
              <a:t>     This is an important issue as students, especially freshers have difficulty accessing the already available information as they are scattered across different websites. And also due to the increasing number of fraud mails in Outlook, Students are having difficulty differentiating them with official college mails which leads to spreading of misinformation and misdirecting the students, especially freshers.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
        <p:nvSpPr>
          <p:cNvPr id="11" name="TextBox 10">
            <a:extLst>
              <a:ext uri="{FF2B5EF4-FFF2-40B4-BE49-F238E27FC236}">
                <a16:creationId xmlns:a16="http://schemas.microsoft.com/office/drawing/2014/main" id="{AC5345E8-834B-9977-B8D2-D2F280A1EECF}"/>
              </a:ext>
            </a:extLst>
          </p:cNvPr>
          <p:cNvSpPr txBox="1"/>
          <p:nvPr/>
        </p:nvSpPr>
        <p:spPr>
          <a:xfrm>
            <a:off x="1005840" y="1830982"/>
            <a:ext cx="10643186" cy="1200329"/>
          </a:xfrm>
          <a:prstGeom prst="rect">
            <a:avLst/>
          </a:prstGeom>
          <a:noFill/>
        </p:spPr>
        <p:txBody>
          <a:bodyPr wrap="square" rtlCol="0">
            <a:spAutoFit/>
          </a:bodyPr>
          <a:lstStyle/>
          <a:p>
            <a:r>
              <a:rPr lang="en-US" dirty="0"/>
              <a:t>As freshers, we found it difficult to navigate thorough the various campus management apps and websites. That's when we realized we needed a mentor-like solution and a single, unified platform to make things easier an Al-powered app that could guide students and serve as a one-stop solution for all their campus-related needs.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thefourbroskies</a:t>
            </a:r>
            <a:endParaRPr lang="en-US" sz="900" dirty="0"/>
          </a:p>
        </p:txBody>
      </p:sp>
      <p:sp>
        <p:nvSpPr>
          <p:cNvPr id="7" name="Lead Icon Hex"/>
          <p:cNvSpPr/>
          <p:nvPr/>
        </p:nvSpPr>
        <p:spPr>
          <a:xfrm>
            <a:off x="548640" y="1435047"/>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495396"/>
            <a:ext cx="274320" cy="274320"/>
          </a:xfrm>
          <a:prstGeom prst="rect">
            <a:avLst/>
          </a:prstGeom>
        </p:spPr>
      </p:pic>
      <p:sp>
        <p:nvSpPr>
          <p:cNvPr id="9" name="Lead Text"/>
          <p:cNvSpPr txBox="1"/>
          <p:nvPr/>
        </p:nvSpPr>
        <p:spPr>
          <a:xfrm>
            <a:off x="1170432" y="1389327"/>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1952893"/>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a:solidFill>
                  <a:schemeClr val="tx1"/>
                </a:solidFill>
              </a:rPr>
              <a:t>Primary users / target group</a:t>
            </a:r>
            <a:endParaRPr lang="en-US" b="1" dirty="0"/>
          </a:p>
          <a:p>
            <a:pPr>
              <a:spcAft>
                <a:spcPts val="1000"/>
              </a:spcAft>
              <a:buClr>
                <a:schemeClr val="accent1"/>
              </a:buClr>
              <a:buSzPct val="100000"/>
            </a:pPr>
            <a:r>
              <a:rPr lang="en-US" dirty="0"/>
              <a:t>    // First-year students (Freshers): Struggle to navigate multiple college apps and websites. Existing Students: Face difficulties accessing timetables, attendance, course outcomes, and academic updates. Newly Admitted Students: Need guidance to understand college procedures, platforms, and resources.</a:t>
            </a:r>
            <a:endParaRPr lang="en-US" sz="1800" dirty="0"/>
          </a:p>
          <a:p>
            <a:pPr marL="279400" indent="-279400">
              <a:spcAft>
                <a:spcPts val="1000"/>
              </a:spcAft>
              <a:buClr>
                <a:schemeClr val="accent1"/>
              </a:buClr>
              <a:buSzPct val="100000"/>
              <a:buChar char="•"/>
            </a:pPr>
            <a:r>
              <a:rPr lang="en-US" sz="1800" b="1" dirty="0">
                <a:solidFill>
                  <a:schemeClr val="tx1"/>
                </a:solidFill>
              </a:rPr>
              <a:t>Secondary stakeholders</a:t>
            </a:r>
          </a:p>
          <a:p>
            <a:pPr>
              <a:spcAft>
                <a:spcPts val="1000"/>
              </a:spcAft>
              <a:buClr>
                <a:schemeClr val="accent1"/>
              </a:buClr>
              <a:buSzPct val="100000"/>
            </a:pPr>
            <a:r>
              <a:rPr lang="en-US" i="1" dirty="0"/>
              <a:t>Faculty Members</a:t>
            </a:r>
            <a:r>
              <a:rPr lang="en-US" dirty="0"/>
              <a:t>: Need an efficient way to share academic updates and important announcements.          </a:t>
            </a:r>
            <a:r>
              <a:rPr lang="en-US" i="1" dirty="0"/>
              <a:t>College Administration</a:t>
            </a:r>
            <a:r>
              <a:rPr lang="en-US" dirty="0"/>
              <a:t>: Wants students to access official information easily and accurately.                                    </a:t>
            </a:r>
            <a:r>
              <a:rPr lang="en-US" i="1" dirty="0"/>
              <a:t>IT Support Team</a:t>
            </a:r>
            <a:r>
              <a:rPr lang="en-US" dirty="0"/>
              <a:t>: Can reduce repetitive queries related to campus applications and services.</a:t>
            </a:r>
            <a:endParaRPr lang="en-US" sz="1800" dirty="0"/>
          </a:p>
          <a:p>
            <a:pPr marL="279400" indent="-279400">
              <a:spcAft>
                <a:spcPts val="1000"/>
              </a:spcAft>
              <a:buClr>
                <a:schemeClr val="accent1"/>
              </a:buClr>
              <a:buSzPct val="100000"/>
              <a:buChar char="•"/>
            </a:pPr>
            <a:r>
              <a:rPr lang="en-US" sz="1800" b="1" dirty="0">
                <a:solidFill>
                  <a:schemeClr val="tx1"/>
                </a:solidFill>
              </a:rPr>
              <a:t>Who benefits if the problem is solved</a:t>
            </a:r>
            <a:r>
              <a:rPr lang="en-US" b="1" dirty="0"/>
              <a:t>?</a:t>
            </a:r>
          </a:p>
          <a:p>
            <a:pPr>
              <a:spcAft>
                <a:spcPts val="1000"/>
              </a:spcAft>
              <a:buClr>
                <a:schemeClr val="accent1"/>
              </a:buClr>
              <a:buSzPct val="100000"/>
            </a:pPr>
            <a:r>
              <a:rPr lang="en-US" dirty="0"/>
              <a:t>     //Students gain a simpler, faster campus experience. Faculty and administration can communicate information more effectively. Parents benefit from improved access to relevant official updates. The campus community experiences less confusion and better information accessibility.</a:t>
            </a:r>
            <a:endParaRPr lang="en-US" sz="1800" dirty="0">
              <a:solidFill>
                <a:schemeClr val="tx1"/>
              </a:solidFill>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thefourbroskies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94080" y="2209304"/>
            <a:ext cx="5227320" cy="1645920"/>
          </a:xfrm>
          <a:prstGeom prst="rect">
            <a:avLst/>
          </a:prstGeom>
          <a:noFill/>
          <a:ln/>
        </p:spPr>
        <p:txBody>
          <a:bodyPr wrap="square" lIns="0" tIns="0" rIns="0" bIns="0" rtlCol="0" anchor="t"/>
          <a:lstStyle/>
          <a:p>
            <a:pPr>
              <a:spcAft>
                <a:spcPts val="1000"/>
              </a:spcAft>
              <a:buClr>
                <a:schemeClr val="accent1"/>
              </a:buClr>
              <a:buSzPct val="100000"/>
            </a:pPr>
            <a:endParaRPr lang="en-US" sz="1800" dirty="0"/>
          </a:p>
          <a:p>
            <a:pPr>
              <a:spcAft>
                <a:spcPts val="1000"/>
              </a:spcAft>
              <a:buClr>
                <a:schemeClr val="accent1"/>
              </a:buClr>
              <a:buSzPct val="100000"/>
            </a:pPr>
            <a:r>
              <a:rPr lang="en-US" sz="1800" dirty="0"/>
              <a:t>       Multiple apps &amp; websites</a:t>
            </a:r>
          </a:p>
          <a:p>
            <a:pPr>
              <a:spcAft>
                <a:spcPts val="1000"/>
              </a:spcAft>
              <a:buClr>
                <a:schemeClr val="accent1"/>
              </a:buClr>
              <a:buSzPct val="100000"/>
            </a:pPr>
            <a:r>
              <a:rPr lang="en-US" dirty="0"/>
              <a:t>       Switch between platforms</a:t>
            </a:r>
          </a:p>
          <a:p>
            <a:pPr>
              <a:spcAft>
                <a:spcPts val="1000"/>
              </a:spcAft>
              <a:buClr>
                <a:schemeClr val="accent1"/>
              </a:buClr>
              <a:buSzPct val="100000"/>
            </a:pPr>
            <a:r>
              <a:rPr lang="en-US" sz="1800" dirty="0"/>
              <a:t>       Confusion for freshers</a:t>
            </a:r>
          </a:p>
          <a:p>
            <a:pPr>
              <a:spcAft>
                <a:spcPts val="1000"/>
              </a:spcAft>
              <a:buClr>
                <a:schemeClr val="accent1"/>
              </a:buClr>
              <a:buSzPct val="100000"/>
            </a:pPr>
            <a:r>
              <a:rPr lang="en-US" dirty="0"/>
              <a:t>       Risk of fake emails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cxnSp>
        <p:nvCxnSpPr>
          <p:cNvPr id="12" name="Straight Connector 11">
            <a:extLst>
              <a:ext uri="{FF2B5EF4-FFF2-40B4-BE49-F238E27FC236}">
                <a16:creationId xmlns:a16="http://schemas.microsoft.com/office/drawing/2014/main" id="{CD7B2C00-3B5F-CFC7-51A3-5F532DB1AA88}"/>
              </a:ext>
            </a:extLst>
          </p:cNvPr>
          <p:cNvCxnSpPr>
            <a:cxnSpLocks/>
          </p:cNvCxnSpPr>
          <p:nvPr/>
        </p:nvCxnSpPr>
        <p:spPr>
          <a:xfrm>
            <a:off x="6838788" y="2351959"/>
            <a:ext cx="0" cy="3078459"/>
          </a:xfrm>
          <a:prstGeom prst="line">
            <a:avLst/>
          </a:prstGeom>
          <a:ln/>
        </p:spPr>
        <p:style>
          <a:lnRef idx="3">
            <a:schemeClr val="accent5"/>
          </a:lnRef>
          <a:fillRef idx="0">
            <a:schemeClr val="accent5"/>
          </a:fillRef>
          <a:effectRef idx="2">
            <a:schemeClr val="accent5"/>
          </a:effectRef>
          <a:fontRef idx="minor">
            <a:schemeClr val="tx1"/>
          </a:fontRef>
        </p:style>
      </p:cxnSp>
      <p:sp>
        <p:nvSpPr>
          <p:cNvPr id="14" name="TextBox 13">
            <a:extLst>
              <a:ext uri="{FF2B5EF4-FFF2-40B4-BE49-F238E27FC236}">
                <a16:creationId xmlns:a16="http://schemas.microsoft.com/office/drawing/2014/main" id="{9FFE216A-3418-700E-C69A-26DAC216B60C}"/>
              </a:ext>
            </a:extLst>
          </p:cNvPr>
          <p:cNvSpPr txBox="1"/>
          <p:nvPr/>
        </p:nvSpPr>
        <p:spPr>
          <a:xfrm>
            <a:off x="7355636" y="2611024"/>
            <a:ext cx="4419596" cy="2693045"/>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spcAft>
                <a:spcPts val="1000"/>
              </a:spcAft>
              <a:buClr>
                <a:schemeClr val="accent1"/>
              </a:buClr>
              <a:buSzPct val="100000"/>
            </a:pPr>
            <a:r>
              <a:rPr lang="en-US" dirty="0"/>
              <a:t>We have a surveyed 30 students and obtained these results:</a:t>
            </a:r>
          </a:p>
          <a:p>
            <a:pPr>
              <a:spcAft>
                <a:spcPts val="1000"/>
              </a:spcAft>
              <a:buClr>
                <a:schemeClr val="accent1"/>
              </a:buClr>
              <a:buSzPct val="100000"/>
            </a:pPr>
            <a:r>
              <a:rPr lang="en-US" dirty="0"/>
              <a:t>      *Students using 3 or more platforms – 22/30 (73.3%)</a:t>
            </a:r>
          </a:p>
          <a:p>
            <a:pPr>
              <a:spcAft>
                <a:spcPts val="1000"/>
              </a:spcAft>
              <a:buClr>
                <a:schemeClr val="accent1"/>
              </a:buClr>
              <a:buSzPct val="100000"/>
            </a:pPr>
            <a:r>
              <a:rPr lang="en-US" dirty="0"/>
              <a:t>      *Students who find information difficult to locate – 18/30 (60%)</a:t>
            </a:r>
          </a:p>
          <a:p>
            <a:pPr>
              <a:spcAft>
                <a:spcPts val="1000"/>
              </a:spcAft>
              <a:buClr>
                <a:schemeClr val="accent1"/>
              </a:buClr>
              <a:buSzPct val="100000"/>
            </a:pPr>
            <a:r>
              <a:rPr lang="en-US" dirty="0"/>
              <a:t>      *Students interested in a unified campus assistant – 26/30 (86.7%)</a:t>
            </a:r>
          </a:p>
        </p:txBody>
      </p:sp>
      <p:pic>
        <p:nvPicPr>
          <p:cNvPr id="19" name="Picture 18">
            <a:extLst>
              <a:ext uri="{FF2B5EF4-FFF2-40B4-BE49-F238E27FC236}">
                <a16:creationId xmlns:a16="http://schemas.microsoft.com/office/drawing/2014/main" id="{28CD61C9-075D-4981-E655-60646C1F23BF}"/>
              </a:ext>
            </a:extLst>
          </p:cNvPr>
          <p:cNvPicPr>
            <a:picLocks noChangeAspect="1"/>
          </p:cNvPicPr>
          <p:nvPr/>
        </p:nvPicPr>
        <p:blipFill>
          <a:blip r:embed="rId5"/>
          <a:srcRect l="2143" t="6384" r="2118" b="45691"/>
          <a:stretch>
            <a:fillRect/>
          </a:stretch>
        </p:blipFill>
        <p:spPr>
          <a:xfrm>
            <a:off x="457200" y="4847045"/>
            <a:ext cx="6297606" cy="1129848"/>
          </a:xfrm>
          <a:prstGeom prst="rect">
            <a:avLst/>
          </a:prstGeom>
        </p:spPr>
      </p:pic>
      <p:sp>
        <p:nvSpPr>
          <p:cNvPr id="20" name="TextBox 19">
            <a:extLst>
              <a:ext uri="{FF2B5EF4-FFF2-40B4-BE49-F238E27FC236}">
                <a16:creationId xmlns:a16="http://schemas.microsoft.com/office/drawing/2014/main" id="{BD7E56EB-FECF-8A2F-F157-0174CA261255}"/>
              </a:ext>
            </a:extLst>
          </p:cNvPr>
          <p:cNvSpPr txBox="1"/>
          <p:nvPr/>
        </p:nvSpPr>
        <p:spPr>
          <a:xfrm>
            <a:off x="633450" y="4497353"/>
            <a:ext cx="3571106" cy="369332"/>
          </a:xfrm>
          <a:prstGeom prst="rect">
            <a:avLst/>
          </a:prstGeom>
          <a:noFill/>
        </p:spPr>
        <p:txBody>
          <a:bodyPr wrap="none" rtlCol="0">
            <a:spAutoFit/>
          </a:bodyPr>
          <a:lstStyle/>
          <a:p>
            <a:pPr marL="279400" indent="-279400">
              <a:spcAft>
                <a:spcPts val="1000"/>
              </a:spcAft>
              <a:buClr>
                <a:schemeClr val="accent1"/>
              </a:buClr>
              <a:buSzPct val="100000"/>
              <a:buChar char="•"/>
            </a:pPr>
            <a:r>
              <a:rPr lang="en-US" b="1" dirty="0"/>
              <a:t>Current workflow, step by step - </a:t>
            </a:r>
          </a:p>
        </p:txBody>
      </p:sp>
      <p:cxnSp>
        <p:nvCxnSpPr>
          <p:cNvPr id="22" name="Straight Connector 21">
            <a:extLst>
              <a:ext uri="{FF2B5EF4-FFF2-40B4-BE49-F238E27FC236}">
                <a16:creationId xmlns:a16="http://schemas.microsoft.com/office/drawing/2014/main" id="{10B7772E-E56F-8CF4-4376-B2A7679ECD1C}"/>
              </a:ext>
            </a:extLst>
          </p:cNvPr>
          <p:cNvCxnSpPr/>
          <p:nvPr/>
        </p:nvCxnSpPr>
        <p:spPr>
          <a:xfrm>
            <a:off x="640080" y="4292083"/>
            <a:ext cx="5676744" cy="0"/>
          </a:xfrm>
          <a:prstGeom prst="line">
            <a:avLst/>
          </a:prstGeom>
        </p:spPr>
        <p:style>
          <a:lnRef idx="3">
            <a:schemeClr val="accent5"/>
          </a:lnRef>
          <a:fillRef idx="0">
            <a:schemeClr val="accent5"/>
          </a:fillRef>
          <a:effectRef idx="2">
            <a:schemeClr val="accent5"/>
          </a:effectRef>
          <a:fontRef idx="minor">
            <a:schemeClr val="tx1"/>
          </a:fontRef>
        </p:style>
      </p:cxnSp>
      <p:sp>
        <p:nvSpPr>
          <p:cNvPr id="23" name="TextBox 22">
            <a:extLst>
              <a:ext uri="{FF2B5EF4-FFF2-40B4-BE49-F238E27FC236}">
                <a16:creationId xmlns:a16="http://schemas.microsoft.com/office/drawing/2014/main" id="{AFA7CCBE-659A-9817-4FD2-0EAC707E5CAD}"/>
              </a:ext>
            </a:extLst>
          </p:cNvPr>
          <p:cNvSpPr txBox="1"/>
          <p:nvPr/>
        </p:nvSpPr>
        <p:spPr>
          <a:xfrm>
            <a:off x="2239349" y="5939568"/>
            <a:ext cx="2618537" cy="307777"/>
          </a:xfrm>
          <a:prstGeom prst="rect">
            <a:avLst/>
          </a:prstGeom>
          <a:noFill/>
        </p:spPr>
        <p:txBody>
          <a:bodyPr wrap="none" rtlCol="0">
            <a:spAutoFit/>
          </a:bodyPr>
          <a:lstStyle/>
          <a:p>
            <a:r>
              <a:rPr lang="en-IN" sz="1400" i="1" dirty="0">
                <a:solidFill>
                  <a:schemeClr val="bg2">
                    <a:lumMod val="25000"/>
                  </a:schemeClr>
                </a:solidFill>
              </a:rPr>
              <a:t>(Image generated using </a:t>
            </a:r>
            <a:r>
              <a:rPr lang="en-IN" sz="1400" i="1" dirty="0" err="1">
                <a:solidFill>
                  <a:schemeClr val="bg2">
                    <a:lumMod val="25000"/>
                  </a:schemeClr>
                </a:solidFill>
              </a:rPr>
              <a:t>ChatGpt</a:t>
            </a:r>
            <a:r>
              <a:rPr lang="en-IN" sz="1400" i="1" dirty="0">
                <a:solidFill>
                  <a:schemeClr val="bg2">
                    <a:lumMod val="25000"/>
                  </a:schemeClr>
                </a:solidFill>
              </a:rPr>
              <a:t>)</a:t>
            </a:r>
          </a:p>
        </p:txBody>
      </p:sp>
      <p:pic>
        <p:nvPicPr>
          <p:cNvPr id="26" name="Picture 25">
            <a:extLst>
              <a:ext uri="{FF2B5EF4-FFF2-40B4-BE49-F238E27FC236}">
                <a16:creationId xmlns:a16="http://schemas.microsoft.com/office/drawing/2014/main" id="{3AD6E492-C3CF-A377-BD94-3DB5DD724B12}"/>
              </a:ext>
            </a:extLst>
          </p:cNvPr>
          <p:cNvPicPr>
            <a:picLocks noChangeAspect="1"/>
          </p:cNvPicPr>
          <p:nvPr/>
        </p:nvPicPr>
        <p:blipFill>
          <a:blip r:embed="rId6"/>
          <a:srcRect b="74003"/>
          <a:stretch>
            <a:fillRect/>
          </a:stretch>
        </p:blipFill>
        <p:spPr>
          <a:xfrm>
            <a:off x="786648" y="2482794"/>
            <a:ext cx="419666" cy="469495"/>
          </a:xfrm>
          <a:prstGeom prst="rect">
            <a:avLst/>
          </a:prstGeom>
        </p:spPr>
      </p:pic>
      <p:pic>
        <p:nvPicPr>
          <p:cNvPr id="28" name="Picture 27">
            <a:extLst>
              <a:ext uri="{FF2B5EF4-FFF2-40B4-BE49-F238E27FC236}">
                <a16:creationId xmlns:a16="http://schemas.microsoft.com/office/drawing/2014/main" id="{D0F32812-1F66-76C5-2C3F-042B04CD3CB5}"/>
              </a:ext>
            </a:extLst>
          </p:cNvPr>
          <p:cNvPicPr>
            <a:picLocks noChangeAspect="1"/>
          </p:cNvPicPr>
          <p:nvPr/>
        </p:nvPicPr>
        <p:blipFill>
          <a:blip r:embed="rId6"/>
          <a:srcRect t="24063" b="50000"/>
          <a:stretch>
            <a:fillRect/>
          </a:stretch>
        </p:blipFill>
        <p:spPr>
          <a:xfrm>
            <a:off x="777306" y="2832342"/>
            <a:ext cx="457201" cy="510314"/>
          </a:xfrm>
          <a:prstGeom prst="rect">
            <a:avLst/>
          </a:prstGeom>
        </p:spPr>
      </p:pic>
      <p:pic>
        <p:nvPicPr>
          <p:cNvPr id="30" name="Picture 29">
            <a:extLst>
              <a:ext uri="{FF2B5EF4-FFF2-40B4-BE49-F238E27FC236}">
                <a16:creationId xmlns:a16="http://schemas.microsoft.com/office/drawing/2014/main" id="{7DD567D6-BB21-2D97-1EB6-A31377B28D2D}"/>
              </a:ext>
            </a:extLst>
          </p:cNvPr>
          <p:cNvPicPr>
            <a:picLocks noChangeAspect="1"/>
          </p:cNvPicPr>
          <p:nvPr/>
        </p:nvPicPr>
        <p:blipFill>
          <a:blip r:embed="rId6"/>
          <a:srcRect t="50000" b="22972"/>
          <a:stretch>
            <a:fillRect/>
          </a:stretch>
        </p:blipFill>
        <p:spPr>
          <a:xfrm>
            <a:off x="764237" y="3298373"/>
            <a:ext cx="457202" cy="531774"/>
          </a:xfrm>
          <a:prstGeom prst="rect">
            <a:avLst/>
          </a:prstGeom>
        </p:spPr>
      </p:pic>
      <p:pic>
        <p:nvPicPr>
          <p:cNvPr id="32" name="Picture 31">
            <a:extLst>
              <a:ext uri="{FF2B5EF4-FFF2-40B4-BE49-F238E27FC236}">
                <a16:creationId xmlns:a16="http://schemas.microsoft.com/office/drawing/2014/main" id="{73EC79C8-BA97-CEE5-B118-3EE38EC9989E}"/>
              </a:ext>
            </a:extLst>
          </p:cNvPr>
          <p:cNvPicPr>
            <a:picLocks noChangeAspect="1"/>
          </p:cNvPicPr>
          <p:nvPr/>
        </p:nvPicPr>
        <p:blipFill>
          <a:blip r:embed="rId6"/>
          <a:srcRect t="77063"/>
          <a:stretch>
            <a:fillRect/>
          </a:stretch>
        </p:blipFill>
        <p:spPr>
          <a:xfrm>
            <a:off x="801556" y="3754694"/>
            <a:ext cx="432744" cy="427137"/>
          </a:xfrm>
          <a:prstGeom prst="rect">
            <a:avLst/>
          </a:prstGeom>
        </p:spPr>
      </p:pic>
      <p:sp>
        <p:nvSpPr>
          <p:cNvPr id="33" name="TextBox 32">
            <a:extLst>
              <a:ext uri="{FF2B5EF4-FFF2-40B4-BE49-F238E27FC236}">
                <a16:creationId xmlns:a16="http://schemas.microsoft.com/office/drawing/2014/main" id="{29320DDF-06C0-0D10-E371-12D2A49549C3}"/>
              </a:ext>
            </a:extLst>
          </p:cNvPr>
          <p:cNvSpPr txBox="1"/>
          <p:nvPr/>
        </p:nvSpPr>
        <p:spPr>
          <a:xfrm>
            <a:off x="7178352" y="2159628"/>
            <a:ext cx="3837141" cy="646331"/>
          </a:xfrm>
          <a:prstGeom prst="rect">
            <a:avLst/>
          </a:prstGeom>
          <a:noFill/>
        </p:spPr>
        <p:txBody>
          <a:bodyPr wrap="none" rtlCol="0">
            <a:spAutoFit/>
          </a:bodyPr>
          <a:lstStyle/>
          <a:p>
            <a:pPr marL="279400" indent="-279400">
              <a:buClr>
                <a:schemeClr val="accent1"/>
              </a:buClr>
              <a:buSzPct val="100000"/>
              <a:buChar char="•"/>
            </a:pPr>
            <a:r>
              <a:rPr lang="en-US" b="1" dirty="0"/>
              <a:t>Relevant data or facts (if available):</a:t>
            </a:r>
          </a:p>
          <a:p>
            <a:endParaRPr lang="en-IN" dirty="0"/>
          </a:p>
        </p:txBody>
      </p:sp>
      <p:sp>
        <p:nvSpPr>
          <p:cNvPr id="34" name="TextBox 33">
            <a:extLst>
              <a:ext uri="{FF2B5EF4-FFF2-40B4-BE49-F238E27FC236}">
                <a16:creationId xmlns:a16="http://schemas.microsoft.com/office/drawing/2014/main" id="{3A40DCE9-E3C3-DD90-966B-68E955BF8ACA}"/>
              </a:ext>
            </a:extLst>
          </p:cNvPr>
          <p:cNvSpPr txBox="1"/>
          <p:nvPr/>
        </p:nvSpPr>
        <p:spPr>
          <a:xfrm>
            <a:off x="640080" y="2158847"/>
            <a:ext cx="3644972" cy="646331"/>
          </a:xfrm>
          <a:prstGeom prst="rect">
            <a:avLst/>
          </a:prstGeom>
          <a:noFill/>
        </p:spPr>
        <p:txBody>
          <a:bodyPr wrap="none" rtlCol="0">
            <a:spAutoFit/>
          </a:bodyPr>
          <a:lstStyle/>
          <a:p>
            <a:pPr marL="279400" indent="-279400">
              <a:buClr>
                <a:schemeClr val="accent1"/>
              </a:buClr>
              <a:buSzPct val="100000"/>
              <a:buChar char="•"/>
            </a:pPr>
            <a:r>
              <a:rPr lang="en-US" b="1" dirty="0"/>
              <a:t>Existing scenario and background</a:t>
            </a:r>
          </a:p>
          <a:p>
            <a:endParaRPr lang="en-IN" dirty="0"/>
          </a:p>
        </p:txBody>
      </p:sp>
      <p:pic>
        <p:nvPicPr>
          <p:cNvPr id="36" name="Picture 35">
            <a:extLst>
              <a:ext uri="{FF2B5EF4-FFF2-40B4-BE49-F238E27FC236}">
                <a16:creationId xmlns:a16="http://schemas.microsoft.com/office/drawing/2014/main" id="{CA69785B-D931-1F5A-F03D-65498D718196}"/>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4326572" y="2179320"/>
            <a:ext cx="2238375" cy="1828800"/>
          </a:xfrm>
          <a:prstGeom prst="rect">
            <a:avLst/>
          </a:prstGeom>
          <a:ln>
            <a:noFill/>
          </a:ln>
          <a:effectLst>
            <a:softEdge rad="112500"/>
          </a:effectLst>
        </p:spPr>
      </p:pic>
      <p:sp>
        <p:nvSpPr>
          <p:cNvPr id="37" name="TextBox 36">
            <a:extLst>
              <a:ext uri="{FF2B5EF4-FFF2-40B4-BE49-F238E27FC236}">
                <a16:creationId xmlns:a16="http://schemas.microsoft.com/office/drawing/2014/main" id="{B81932EF-DE0D-CB86-AAB3-FA68B3D905FA}"/>
              </a:ext>
            </a:extLst>
          </p:cNvPr>
          <p:cNvSpPr txBox="1"/>
          <p:nvPr/>
        </p:nvSpPr>
        <p:spPr>
          <a:xfrm>
            <a:off x="4976812" y="4343400"/>
            <a:ext cx="2238375" cy="369332"/>
          </a:xfrm>
          <a:prstGeom prst="rect">
            <a:avLst/>
          </a:prstGeom>
          <a:noFill/>
        </p:spPr>
        <p:txBody>
          <a:bodyPr wrap="square" rtlCol="0">
            <a:spAutoFit/>
          </a:bodyPr>
          <a:lstStyle/>
          <a:p>
            <a:r>
              <a:rPr lang="en-IN" sz="900">
                <a:hlinkClick r:id="rId8" tooltip="https://alacamaconunlibro.blogspot.com/2016/04/"/>
              </a:rPr>
              <a:t>This Photo</a:t>
            </a:r>
            <a:r>
              <a:rPr lang="en-IN" sz="900"/>
              <a:t> by Unknown Author is licensed under </a:t>
            </a:r>
            <a:r>
              <a:rPr lang="en-IN" sz="900">
                <a:hlinkClick r:id="rId9" tooltip="https://creativecommons.org/licenses/by-nc-nd/3.0/"/>
              </a:rPr>
              <a:t>CC BY-NC-ND</a:t>
            </a:r>
            <a:endParaRPr lang="en-IN"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KEY CHALLENGES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p>
          <a:p>
            <a:pPr marL="0" indent="0">
              <a:buNone/>
            </a:pPr>
            <a:r>
              <a:rPr lang="en-US" sz="1500" b="1" err="1">
                <a:solidFill>
                  <a:schemeClr val="accent1"/>
                </a:solidFill>
              </a:rPr>
              <a:t>thefourbroskies</a:t>
            </a:r>
            <a:endParaRPr lang="en-US" sz="90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Main difficulties, bottlenecks, root causes and consequences</a:t>
            </a:r>
            <a:endParaRPr lang="en-US" sz="18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11" name="Rectangle: Rounded Corners 10">
            <a:extLst>
              <a:ext uri="{FF2B5EF4-FFF2-40B4-BE49-F238E27FC236}">
                <a16:creationId xmlns:a16="http://schemas.microsoft.com/office/drawing/2014/main" id="{CC296B44-FAF5-2134-3446-F9A9F209A3A7}"/>
              </a:ext>
            </a:extLst>
          </p:cNvPr>
          <p:cNvSpPr/>
          <p:nvPr/>
        </p:nvSpPr>
        <p:spPr>
          <a:xfrm>
            <a:off x="736092" y="2268746"/>
            <a:ext cx="2841541" cy="3640347"/>
          </a:xfrm>
          <a:prstGeom prst="roundRect">
            <a:avLst/>
          </a:prstGeom>
          <a:solidFill>
            <a:schemeClr val="accent3"/>
          </a:solidFill>
          <a:ln/>
        </p:spPr>
        <p:txBody>
          <a:bodyPr rtlCol="0" anchor="ctr"/>
          <a:lstStyle/>
          <a:p>
            <a:pPr marL="342900" indent="-342900">
              <a:spcAft>
                <a:spcPts val="1000"/>
              </a:spcAft>
              <a:buSzPct val="100000"/>
              <a:buChar char="•"/>
            </a:pPr>
            <a:endParaRPr lang="en-US" sz="1400">
              <a:solidFill>
                <a:schemeClr val="tx1"/>
              </a:solidFill>
            </a:endParaRPr>
          </a:p>
          <a:p>
            <a:pPr marL="342900" indent="-342900">
              <a:spcAft>
                <a:spcPts val="1000"/>
              </a:spcAft>
              <a:buSzPct val="100000"/>
              <a:buChar char="•"/>
            </a:pPr>
            <a:endParaRPr lang="en-US" sz="1400">
              <a:solidFill>
                <a:schemeClr val="tx1"/>
              </a:solidFill>
            </a:endParaRPr>
          </a:p>
          <a:p>
            <a:pPr marL="342900" indent="-342900">
              <a:spcAft>
                <a:spcPts val="1000"/>
              </a:spcAft>
              <a:buSzPct val="100000"/>
              <a:buChar char="•"/>
            </a:pPr>
            <a:r>
              <a:rPr lang="en-US" sz="1500">
                <a:solidFill>
                  <a:schemeClr val="tx1"/>
                </a:solidFill>
                <a:latin typeface="Arial Rounded MT Bold" panose="020F0704030504030204" pitchFamily="34" charset="0"/>
              </a:rPr>
              <a:t>Info scattered across many portals, apps &amp; PDFs</a:t>
            </a:r>
            <a:endParaRPr lang="en-US" sz="1500">
              <a:latin typeface="Arial Rounded MT Bold" panose="020F0704030504030204" pitchFamily="34" charset="0"/>
            </a:endParaRPr>
          </a:p>
          <a:p>
            <a:pPr marL="342900" indent="-342900">
              <a:spcAft>
                <a:spcPts val="1000"/>
              </a:spcAft>
              <a:buSzPct val="100000"/>
              <a:buChar char="•"/>
            </a:pPr>
            <a:r>
              <a:rPr lang="en-US" sz="1500">
                <a:solidFill>
                  <a:schemeClr val="tx1"/>
                </a:solidFill>
                <a:latin typeface="Arial Rounded MT Bold" panose="020F0704030504030204" pitchFamily="34" charset="0"/>
              </a:rPr>
              <a:t>Official mails buried under spam &amp; phishing</a:t>
            </a:r>
            <a:endParaRPr lang="en-US" sz="1500">
              <a:latin typeface="Arial Rounded MT Bold" panose="020F0704030504030204" pitchFamily="34" charset="0"/>
            </a:endParaRPr>
          </a:p>
          <a:p>
            <a:pPr marL="342900" indent="-342900">
              <a:spcAft>
                <a:spcPts val="1000"/>
              </a:spcAft>
              <a:buSzPct val="100000"/>
              <a:buChar char="•"/>
            </a:pPr>
            <a:r>
              <a:rPr lang="en-US" sz="1500">
                <a:solidFill>
                  <a:schemeClr val="tx1"/>
                </a:solidFill>
                <a:latin typeface="Arial Rounded MT Bold" panose="020F0704030504030204" pitchFamily="34" charset="0"/>
              </a:rPr>
              <a:t>No open APIs for college data; fraud detection must be accurate</a:t>
            </a:r>
            <a:endParaRPr lang="en-US" sz="1500">
              <a:latin typeface="Arial Rounded MT Bold" panose="020F0704030504030204" pitchFamily="34" charset="0"/>
            </a:endParaRPr>
          </a:p>
          <a:p>
            <a:pPr algn="ctr"/>
            <a:endParaRPr lang="en-IN"/>
          </a:p>
        </p:txBody>
      </p:sp>
      <p:sp>
        <p:nvSpPr>
          <p:cNvPr id="14" name="Rectangle: Rounded Corners 13">
            <a:extLst>
              <a:ext uri="{FF2B5EF4-FFF2-40B4-BE49-F238E27FC236}">
                <a16:creationId xmlns:a16="http://schemas.microsoft.com/office/drawing/2014/main" id="{BE2AF4C5-306C-7E83-3616-EAB8C393391A}"/>
              </a:ext>
            </a:extLst>
          </p:cNvPr>
          <p:cNvSpPr/>
          <p:nvPr/>
        </p:nvSpPr>
        <p:spPr>
          <a:xfrm>
            <a:off x="7902659" y="2268746"/>
            <a:ext cx="2841541" cy="3640347"/>
          </a:xfrm>
          <a:prstGeom prst="roundRect">
            <a:avLst/>
          </a:prstGeom>
          <a:solidFill>
            <a:schemeClr val="accent3"/>
          </a:solidFill>
          <a:ln/>
        </p:spPr>
        <p:txBody>
          <a:bodyPr rtlCol="0" anchor="ctr"/>
          <a:lstStyle/>
          <a:p>
            <a:pPr marL="342900" indent="-342900">
              <a:spcAft>
                <a:spcPts val="1000"/>
              </a:spcAft>
              <a:buSzPct val="100000"/>
              <a:buChar char="•"/>
            </a:pPr>
            <a:endParaRPr lang="en-US" sz="1500"/>
          </a:p>
          <a:p>
            <a:pPr marL="342900" indent="-342900">
              <a:spcAft>
                <a:spcPts val="1000"/>
              </a:spcAft>
              <a:buSzPct val="100000"/>
              <a:buChar char="•"/>
            </a:pPr>
            <a:r>
              <a:rPr lang="en-US" sz="1500">
                <a:latin typeface="Arial Rounded MT Bold" panose="020F0704030504030204" pitchFamily="34" charset="0"/>
              </a:rPr>
              <a:t>Missed classes, exams, unnecessary dilemmas &amp; deadlines</a:t>
            </a:r>
          </a:p>
          <a:p>
            <a:pPr marL="342900" indent="-342900">
              <a:spcAft>
                <a:spcPts val="1000"/>
              </a:spcAft>
              <a:buSzPct val="100000"/>
              <a:buChar char="•"/>
            </a:pPr>
            <a:r>
              <a:rPr lang="en-US" sz="1500">
                <a:latin typeface="Arial Rounded MT Bold" panose="020F0704030504030204" pitchFamily="34" charset="0"/>
              </a:rPr>
              <a:t>Stolen credentials and financial loss</a:t>
            </a:r>
          </a:p>
          <a:p>
            <a:pPr marL="342900" indent="-342900">
              <a:spcAft>
                <a:spcPts val="1000"/>
              </a:spcAft>
              <a:buSzPct val="100000"/>
              <a:buChar char="•"/>
            </a:pPr>
            <a:r>
              <a:rPr lang="en-US" sz="1500">
                <a:latin typeface="Arial Rounded MT Bold" panose="020F0704030504030204" pitchFamily="34" charset="0"/>
              </a:rPr>
              <a:t>Repetition of same questions rather than solution</a:t>
            </a:r>
          </a:p>
          <a:p>
            <a:pPr marL="342900" indent="-342900">
              <a:spcAft>
                <a:spcPts val="1000"/>
              </a:spcAft>
              <a:buSzPct val="100000"/>
              <a:buChar char="•"/>
            </a:pPr>
            <a:endParaRPr lang="en-IN" sz="1400">
              <a:solidFill>
                <a:schemeClr val="tx1"/>
              </a:solidFill>
            </a:endParaRPr>
          </a:p>
        </p:txBody>
      </p:sp>
      <p:sp>
        <p:nvSpPr>
          <p:cNvPr id="16" name="Rectangle: Rounded Corners 15">
            <a:extLst>
              <a:ext uri="{FF2B5EF4-FFF2-40B4-BE49-F238E27FC236}">
                <a16:creationId xmlns:a16="http://schemas.microsoft.com/office/drawing/2014/main" id="{F099EFC3-A7E2-FB2F-232D-798425DF72BF}"/>
              </a:ext>
            </a:extLst>
          </p:cNvPr>
          <p:cNvSpPr/>
          <p:nvPr/>
        </p:nvSpPr>
        <p:spPr>
          <a:xfrm>
            <a:off x="4320972" y="2233379"/>
            <a:ext cx="2841541" cy="3640347"/>
          </a:xfrm>
          <a:prstGeom prst="roundRect">
            <a:avLst/>
          </a:prstGeom>
          <a:solidFill>
            <a:schemeClr val="accent3"/>
          </a:solidFill>
          <a:ln/>
        </p:spPr>
        <p:txBody>
          <a:bodyPr rtlCol="0" anchor="ctr"/>
          <a:lstStyle/>
          <a:p>
            <a:pPr marL="342900" indent="-342900">
              <a:spcAft>
                <a:spcPts val="1000"/>
              </a:spcAft>
              <a:buSzPct val="100000"/>
              <a:buChar char="•"/>
            </a:pPr>
            <a:endParaRPr lang="en-US" sz="1500"/>
          </a:p>
          <a:p>
            <a:pPr marL="342900" indent="-342900">
              <a:spcAft>
                <a:spcPts val="1000"/>
              </a:spcAft>
              <a:buSzPct val="100000"/>
              <a:buChar char="•"/>
            </a:pPr>
            <a:r>
              <a:rPr lang="en-US" sz="1500">
                <a:latin typeface="Arial Rounded MT Bold" panose="020F0704030504030204" pitchFamily="34" charset="0"/>
              </a:rPr>
              <a:t>Siloed systems with no common data standard</a:t>
            </a:r>
          </a:p>
          <a:p>
            <a:pPr marL="342900" indent="-342900">
              <a:spcAft>
                <a:spcPts val="1000"/>
              </a:spcAft>
              <a:buSzPct val="100000"/>
              <a:buChar char="•"/>
            </a:pPr>
            <a:r>
              <a:rPr lang="en-US" sz="1500">
                <a:latin typeface="Arial Rounded MT Bold" panose="020F0704030504030204" pitchFamily="34" charset="0"/>
              </a:rPr>
              <a:t>Static PDF timetables &amp; mass-email notices</a:t>
            </a:r>
          </a:p>
          <a:p>
            <a:pPr marL="342900" indent="-342900">
              <a:spcAft>
                <a:spcPts val="1000"/>
              </a:spcAft>
              <a:buSzPct val="100000"/>
              <a:buChar char="•"/>
            </a:pPr>
            <a:r>
              <a:rPr lang="en-US" sz="1500">
                <a:latin typeface="Arial Rounded MT Bold" panose="020F0704030504030204" pitchFamily="34" charset="0"/>
              </a:rPr>
              <a:t>Look-alike phishing and low cyber awareness</a:t>
            </a:r>
          </a:p>
          <a:p>
            <a:pPr marL="342900" indent="-342900">
              <a:spcAft>
                <a:spcPts val="1000"/>
              </a:spcAft>
              <a:buSzPct val="100000"/>
              <a:buChar char="•"/>
            </a:pPr>
            <a:endParaRPr lang="en-IN" sz="1400">
              <a:solidFill>
                <a:schemeClr val="tx1"/>
              </a:solidFill>
            </a:endParaRPr>
          </a:p>
        </p:txBody>
      </p:sp>
      <p:sp>
        <p:nvSpPr>
          <p:cNvPr id="17" name="Rectangle: Rounded Corners 16">
            <a:extLst>
              <a:ext uri="{FF2B5EF4-FFF2-40B4-BE49-F238E27FC236}">
                <a16:creationId xmlns:a16="http://schemas.microsoft.com/office/drawing/2014/main" id="{A1AC646C-495D-A978-46F8-1345CA5B7B24}"/>
              </a:ext>
            </a:extLst>
          </p:cNvPr>
          <p:cNvSpPr/>
          <p:nvPr/>
        </p:nvSpPr>
        <p:spPr>
          <a:xfrm>
            <a:off x="1344643" y="2373701"/>
            <a:ext cx="1627632" cy="508959"/>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bg2">
                    <a:lumMod val="10000"/>
                  </a:schemeClr>
                </a:solidFill>
                <a:latin typeface="Britannic Bold" panose="020B0903060703020204" pitchFamily="34" charset="0"/>
              </a:rPr>
              <a:t>Key Bottlenecks</a:t>
            </a:r>
          </a:p>
        </p:txBody>
      </p:sp>
      <p:sp>
        <p:nvSpPr>
          <p:cNvPr id="19" name="Rectangle: Rounded Corners 18">
            <a:extLst>
              <a:ext uri="{FF2B5EF4-FFF2-40B4-BE49-F238E27FC236}">
                <a16:creationId xmlns:a16="http://schemas.microsoft.com/office/drawing/2014/main" id="{C23952E4-5CB9-4E51-8930-63A2CF2ADA30}"/>
              </a:ext>
            </a:extLst>
          </p:cNvPr>
          <p:cNvSpPr/>
          <p:nvPr/>
        </p:nvSpPr>
        <p:spPr>
          <a:xfrm>
            <a:off x="8427119" y="2373701"/>
            <a:ext cx="1792620" cy="508959"/>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bg2">
                    <a:lumMod val="10000"/>
                  </a:schemeClr>
                </a:solidFill>
                <a:latin typeface="Britannic Bold" panose="020B0903060703020204" pitchFamily="34" charset="0"/>
              </a:rPr>
              <a:t>Consequences</a:t>
            </a:r>
          </a:p>
        </p:txBody>
      </p:sp>
      <p:sp>
        <p:nvSpPr>
          <p:cNvPr id="21" name="Rectangle: Rounded Corners 20">
            <a:extLst>
              <a:ext uri="{FF2B5EF4-FFF2-40B4-BE49-F238E27FC236}">
                <a16:creationId xmlns:a16="http://schemas.microsoft.com/office/drawing/2014/main" id="{BA03B45F-388D-7A37-2D25-598F3416FDE6}"/>
              </a:ext>
            </a:extLst>
          </p:cNvPr>
          <p:cNvSpPr/>
          <p:nvPr/>
        </p:nvSpPr>
        <p:spPr>
          <a:xfrm>
            <a:off x="4927926" y="2373701"/>
            <a:ext cx="1627632" cy="508959"/>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bg2">
                    <a:lumMod val="10000"/>
                  </a:schemeClr>
                </a:solidFill>
                <a:latin typeface="Britannic Bold" panose="020B0903060703020204" pitchFamily="34" charset="0"/>
              </a:rPr>
              <a:t>Root Causes</a:t>
            </a:r>
          </a:p>
        </p:txBody>
      </p:sp>
    </p:spTree>
    <p:extLst>
      <p:ext uri="{BB962C8B-B14F-4D97-AF65-F5344CB8AC3E}">
        <p14:creationId xmlns:p14="http://schemas.microsoft.com/office/powerpoint/2010/main" val="1714323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EXISTING SOLUTIONS / APPROACHES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thefourbroskies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What is already being done, and where it falls short</a:t>
            </a:r>
            <a:endParaRPr lang="en-US" sz="18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
        <p:nvSpPr>
          <p:cNvPr id="24" name="Rectangle 23">
            <a:extLst>
              <a:ext uri="{FF2B5EF4-FFF2-40B4-BE49-F238E27FC236}">
                <a16:creationId xmlns:a16="http://schemas.microsoft.com/office/drawing/2014/main" id="{28A49CB2-4D5C-7561-4E16-611F891CBC91}"/>
              </a:ext>
            </a:extLst>
          </p:cNvPr>
          <p:cNvSpPr/>
          <p:nvPr/>
        </p:nvSpPr>
        <p:spPr>
          <a:xfrm>
            <a:off x="1170432" y="2194560"/>
            <a:ext cx="2337758" cy="3916392"/>
          </a:xfrm>
          <a:prstGeom prst="rect">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spcAft>
                <a:spcPts val="1000"/>
              </a:spcAft>
              <a:buSzPct val="100000"/>
              <a:buChar char="•"/>
            </a:pPr>
            <a:r>
              <a:rPr lang="en-US" sz="1400">
                <a:solidFill>
                  <a:schemeClr val="accent1">
                    <a:lumMod val="60000"/>
                    <a:lumOff val="40000"/>
                  </a:schemeClr>
                </a:solidFill>
                <a:latin typeface="Arial Rounded MT Bold" panose="020F0704030504030204" pitchFamily="34" charset="0"/>
              </a:rPr>
              <a:t>College App / Websites for courses &amp; attendance</a:t>
            </a:r>
          </a:p>
          <a:p>
            <a:pPr marL="342900" indent="-342900">
              <a:spcAft>
                <a:spcPts val="1000"/>
              </a:spcAft>
              <a:buSzPct val="100000"/>
              <a:buChar char="•"/>
            </a:pPr>
            <a:r>
              <a:rPr lang="en-US" sz="1400">
                <a:solidFill>
                  <a:schemeClr val="accent1">
                    <a:lumMod val="60000"/>
                    <a:lumOff val="40000"/>
                  </a:schemeClr>
                </a:solidFill>
                <a:latin typeface="Arial Rounded MT Bold" panose="020F0704030504030204" pitchFamily="34" charset="0"/>
              </a:rPr>
              <a:t>Outlook junk filter, Defender &amp; manual rules</a:t>
            </a:r>
          </a:p>
          <a:p>
            <a:pPr marL="342900" indent="-342900">
              <a:spcAft>
                <a:spcPts val="1000"/>
              </a:spcAft>
              <a:buSzPct val="100000"/>
              <a:buChar char="•"/>
            </a:pPr>
            <a:r>
              <a:rPr lang="en-US" sz="1400">
                <a:solidFill>
                  <a:schemeClr val="accent1">
                    <a:lumMod val="60000"/>
                    <a:lumOff val="40000"/>
                  </a:schemeClr>
                </a:solidFill>
                <a:latin typeface="Arial Rounded MT Bold" panose="020F0704030504030204" pitchFamily="34" charset="0"/>
              </a:rPr>
              <a:t>Timetable &amp; WhatsApp groups for schedules and notices</a:t>
            </a:r>
          </a:p>
        </p:txBody>
      </p:sp>
      <p:sp>
        <p:nvSpPr>
          <p:cNvPr id="27" name="Rectangle 26">
            <a:extLst>
              <a:ext uri="{FF2B5EF4-FFF2-40B4-BE49-F238E27FC236}">
                <a16:creationId xmlns:a16="http://schemas.microsoft.com/office/drawing/2014/main" id="{02A12C61-B416-A3F7-353D-52EE6F733589}"/>
              </a:ext>
            </a:extLst>
          </p:cNvPr>
          <p:cNvSpPr/>
          <p:nvPr/>
        </p:nvSpPr>
        <p:spPr>
          <a:xfrm>
            <a:off x="8531353" y="2194562"/>
            <a:ext cx="2337758" cy="3916390"/>
          </a:xfrm>
          <a:prstGeom prst="rect">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spcAft>
                <a:spcPts val="1000"/>
              </a:spcAft>
              <a:buSzPct val="100000"/>
              <a:buChar char="•"/>
            </a:pPr>
            <a:r>
              <a:rPr lang="en-US" sz="1400">
                <a:solidFill>
                  <a:schemeClr val="accent1">
                    <a:lumMod val="60000"/>
                    <a:lumOff val="40000"/>
                  </a:schemeClr>
                </a:solidFill>
                <a:latin typeface="Arial Rounded MT Bold" panose="020F0704030504030204" pitchFamily="34" charset="0"/>
              </a:rPr>
              <a:t>No single app unifying all campus info</a:t>
            </a:r>
          </a:p>
          <a:p>
            <a:pPr marL="342900" indent="-342900">
              <a:spcAft>
                <a:spcPts val="1000"/>
              </a:spcAft>
              <a:buSzPct val="100000"/>
              <a:buChar char="•"/>
            </a:pPr>
            <a:r>
              <a:rPr lang="en-US" sz="1400">
                <a:solidFill>
                  <a:schemeClr val="accent1">
                    <a:lumMod val="60000"/>
                    <a:lumOff val="40000"/>
                  </a:schemeClr>
                </a:solidFill>
                <a:latin typeface="Arial Rounded MT Bold" panose="020F0704030504030204" pitchFamily="34" charset="0"/>
              </a:rPr>
              <a:t>No campus-aware mail triage: college vs. fraud</a:t>
            </a:r>
          </a:p>
          <a:p>
            <a:pPr marL="342900" indent="-342900">
              <a:spcAft>
                <a:spcPts val="1000"/>
              </a:spcAft>
              <a:buSzPct val="100000"/>
              <a:buChar char="•"/>
            </a:pPr>
            <a:r>
              <a:rPr lang="en-US" sz="1400">
                <a:solidFill>
                  <a:schemeClr val="accent1">
                    <a:lumMod val="60000"/>
                    <a:lumOff val="40000"/>
                  </a:schemeClr>
                </a:solidFill>
                <a:latin typeface="Arial Rounded MT Bold" panose="020F0704030504030204" pitchFamily="34" charset="0"/>
              </a:rPr>
              <a:t>No real-time, personalized change alerts</a:t>
            </a:r>
          </a:p>
        </p:txBody>
      </p:sp>
      <p:sp>
        <p:nvSpPr>
          <p:cNvPr id="29" name="Rectangle 28">
            <a:extLst>
              <a:ext uri="{FF2B5EF4-FFF2-40B4-BE49-F238E27FC236}">
                <a16:creationId xmlns:a16="http://schemas.microsoft.com/office/drawing/2014/main" id="{9F007894-B49B-F6D6-64EB-CCA0B1927B46}"/>
              </a:ext>
            </a:extLst>
          </p:cNvPr>
          <p:cNvSpPr/>
          <p:nvPr/>
        </p:nvSpPr>
        <p:spPr>
          <a:xfrm>
            <a:off x="4803447" y="2194561"/>
            <a:ext cx="2337758" cy="3916391"/>
          </a:xfrm>
          <a:prstGeom prst="rect">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spcAft>
                <a:spcPts val="1000"/>
              </a:spcAft>
              <a:buSzPct val="100000"/>
              <a:buChar char="•"/>
            </a:pPr>
            <a:r>
              <a:rPr lang="en-US" sz="1400">
                <a:solidFill>
                  <a:schemeClr val="accent1">
                    <a:lumMod val="60000"/>
                    <a:lumOff val="40000"/>
                  </a:schemeClr>
                </a:solidFill>
                <a:latin typeface="Arial Rounded MT Bold" panose="020F0704030504030204" pitchFamily="34" charset="0"/>
              </a:rPr>
              <a:t>Siloed portals, separate logins, desktop based</a:t>
            </a:r>
          </a:p>
          <a:p>
            <a:pPr marL="342900" indent="-342900">
              <a:spcAft>
                <a:spcPts val="1000"/>
              </a:spcAft>
              <a:buSzPct val="100000"/>
              <a:buChar char="•"/>
            </a:pPr>
            <a:r>
              <a:rPr lang="en-US" sz="1400">
                <a:solidFill>
                  <a:schemeClr val="accent1">
                    <a:lumMod val="60000"/>
                    <a:lumOff val="40000"/>
                  </a:schemeClr>
                </a:solidFill>
                <a:latin typeface="Arial Rounded MT Bold" panose="020F0704030504030204" pitchFamily="34" charset="0"/>
              </a:rPr>
              <a:t>Generic filters miss targeted campus phishing</a:t>
            </a:r>
          </a:p>
          <a:p>
            <a:pPr marL="342900" indent="-342900">
              <a:spcAft>
                <a:spcPts val="1000"/>
              </a:spcAft>
              <a:buSzPct val="100000"/>
              <a:buChar char="•"/>
            </a:pPr>
            <a:r>
              <a:rPr lang="en-US" sz="1400">
                <a:solidFill>
                  <a:schemeClr val="accent1">
                    <a:lumMod val="60000"/>
                    <a:lumOff val="40000"/>
                  </a:schemeClr>
                </a:solidFill>
                <a:latin typeface="Arial Rounded MT Bold" panose="020F0704030504030204" pitchFamily="34" charset="0"/>
              </a:rPr>
              <a:t>Manual timetable entry; easy to miss</a:t>
            </a:r>
          </a:p>
        </p:txBody>
      </p:sp>
      <p:sp>
        <p:nvSpPr>
          <p:cNvPr id="31" name="Rectangle 30">
            <a:extLst>
              <a:ext uri="{FF2B5EF4-FFF2-40B4-BE49-F238E27FC236}">
                <a16:creationId xmlns:a16="http://schemas.microsoft.com/office/drawing/2014/main" id="{92701A07-AB58-A334-D9F0-F0C5324A7FCE}"/>
              </a:ext>
            </a:extLst>
          </p:cNvPr>
          <p:cNvSpPr/>
          <p:nvPr/>
        </p:nvSpPr>
        <p:spPr>
          <a:xfrm>
            <a:off x="736092" y="2294626"/>
            <a:ext cx="3197553" cy="502920"/>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latin typeface="Britannic Bold" panose="020B0903060703020204" pitchFamily="34" charset="0"/>
              </a:rPr>
              <a:t>Existing Solutions</a:t>
            </a:r>
          </a:p>
        </p:txBody>
      </p:sp>
      <p:sp>
        <p:nvSpPr>
          <p:cNvPr id="33" name="Rectangle 32">
            <a:extLst>
              <a:ext uri="{FF2B5EF4-FFF2-40B4-BE49-F238E27FC236}">
                <a16:creationId xmlns:a16="http://schemas.microsoft.com/office/drawing/2014/main" id="{C20FF0ED-9896-A5B6-FDA7-25EDB121DE37}"/>
              </a:ext>
            </a:extLst>
          </p:cNvPr>
          <p:cNvSpPr/>
          <p:nvPr/>
        </p:nvSpPr>
        <p:spPr>
          <a:xfrm>
            <a:off x="8105955" y="5471226"/>
            <a:ext cx="3197553" cy="49301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Britannic Bold" panose="020B0903060703020204" pitchFamily="34" charset="0"/>
              </a:rPr>
              <a:t>Room for a Unified System</a:t>
            </a:r>
          </a:p>
        </p:txBody>
      </p:sp>
      <p:sp>
        <p:nvSpPr>
          <p:cNvPr id="35" name="Rectangle 34">
            <a:extLst>
              <a:ext uri="{FF2B5EF4-FFF2-40B4-BE49-F238E27FC236}">
                <a16:creationId xmlns:a16="http://schemas.microsoft.com/office/drawing/2014/main" id="{6036895B-B7F5-9A00-184E-057508D71E71}"/>
              </a:ext>
            </a:extLst>
          </p:cNvPr>
          <p:cNvSpPr/>
          <p:nvPr/>
        </p:nvSpPr>
        <p:spPr>
          <a:xfrm>
            <a:off x="8105955" y="2294626"/>
            <a:ext cx="3197553" cy="502920"/>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Britannic Bold" panose="020B0903060703020204" pitchFamily="34" charset="0"/>
              </a:rPr>
              <a:t>The Gap Left Open</a:t>
            </a:r>
          </a:p>
        </p:txBody>
      </p:sp>
      <p:sp>
        <p:nvSpPr>
          <p:cNvPr id="37" name="Rectangle 36">
            <a:extLst>
              <a:ext uri="{FF2B5EF4-FFF2-40B4-BE49-F238E27FC236}">
                <a16:creationId xmlns:a16="http://schemas.microsoft.com/office/drawing/2014/main" id="{835A0F50-32AD-85D3-5E05-F00FAC64C28C}"/>
              </a:ext>
            </a:extLst>
          </p:cNvPr>
          <p:cNvSpPr/>
          <p:nvPr/>
        </p:nvSpPr>
        <p:spPr>
          <a:xfrm>
            <a:off x="4370831" y="2294626"/>
            <a:ext cx="3197553" cy="502920"/>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latin typeface="Britannic Bold" panose="020B0903060703020204" pitchFamily="34" charset="0"/>
              </a:rPr>
              <a:t>Their Limitations</a:t>
            </a:r>
          </a:p>
        </p:txBody>
      </p:sp>
      <p:sp>
        <p:nvSpPr>
          <p:cNvPr id="39" name="Rectangle 38">
            <a:extLst>
              <a:ext uri="{FF2B5EF4-FFF2-40B4-BE49-F238E27FC236}">
                <a16:creationId xmlns:a16="http://schemas.microsoft.com/office/drawing/2014/main" id="{1308D05D-AC1C-7868-4942-7D7FA26E9531}"/>
              </a:ext>
            </a:extLst>
          </p:cNvPr>
          <p:cNvSpPr/>
          <p:nvPr/>
        </p:nvSpPr>
        <p:spPr>
          <a:xfrm>
            <a:off x="4367984" y="5466271"/>
            <a:ext cx="3197553" cy="502920"/>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latin typeface="Britannic Bold" panose="020B0903060703020204" pitchFamily="34" charset="0"/>
              </a:rPr>
              <a:t>Not Campus Aware</a:t>
            </a:r>
          </a:p>
        </p:txBody>
      </p:sp>
      <p:sp>
        <p:nvSpPr>
          <p:cNvPr id="41" name="Rectangle 40">
            <a:extLst>
              <a:ext uri="{FF2B5EF4-FFF2-40B4-BE49-F238E27FC236}">
                <a16:creationId xmlns:a16="http://schemas.microsoft.com/office/drawing/2014/main" id="{D9A1C3BF-B1CB-1DB4-32B4-8E61C86A81A9}"/>
              </a:ext>
            </a:extLst>
          </p:cNvPr>
          <p:cNvSpPr/>
          <p:nvPr/>
        </p:nvSpPr>
        <p:spPr>
          <a:xfrm>
            <a:off x="736091" y="5466271"/>
            <a:ext cx="3197553" cy="502920"/>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latin typeface="Britannic Bold" panose="020B0903060703020204" pitchFamily="34" charset="0"/>
              </a:rPr>
              <a:t>Fragmented Tools</a:t>
            </a:r>
          </a:p>
        </p:txBody>
      </p:sp>
      <p:sp>
        <p:nvSpPr>
          <p:cNvPr id="42" name="Right Triangle 41">
            <a:extLst>
              <a:ext uri="{FF2B5EF4-FFF2-40B4-BE49-F238E27FC236}">
                <a16:creationId xmlns:a16="http://schemas.microsoft.com/office/drawing/2014/main" id="{DF62E3E7-307B-D1DC-DF73-C72644660B69}"/>
              </a:ext>
            </a:extLst>
          </p:cNvPr>
          <p:cNvSpPr/>
          <p:nvPr/>
        </p:nvSpPr>
        <p:spPr>
          <a:xfrm>
            <a:off x="3512025" y="5229045"/>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ight Triangle 49">
            <a:extLst>
              <a:ext uri="{FF2B5EF4-FFF2-40B4-BE49-F238E27FC236}">
                <a16:creationId xmlns:a16="http://schemas.microsoft.com/office/drawing/2014/main" id="{4700FE3D-01E7-8469-9FF4-4694312FCDF5}"/>
              </a:ext>
            </a:extLst>
          </p:cNvPr>
          <p:cNvSpPr/>
          <p:nvPr/>
        </p:nvSpPr>
        <p:spPr>
          <a:xfrm rot="10800000">
            <a:off x="748871" y="2803423"/>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ight Triangle 51">
            <a:extLst>
              <a:ext uri="{FF2B5EF4-FFF2-40B4-BE49-F238E27FC236}">
                <a16:creationId xmlns:a16="http://schemas.microsoft.com/office/drawing/2014/main" id="{175737D7-728B-2D7D-DEF9-F059E937D629}"/>
              </a:ext>
            </a:extLst>
          </p:cNvPr>
          <p:cNvSpPr/>
          <p:nvPr/>
        </p:nvSpPr>
        <p:spPr>
          <a:xfrm>
            <a:off x="10869111" y="5229045"/>
            <a:ext cx="421561" cy="237226"/>
          </a:xfrm>
          <a:prstGeom prst="rtTriangle">
            <a:avLst/>
          </a:prstGeom>
          <a:solidFill>
            <a:schemeClr val="bg2">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Right Triangle 53">
            <a:extLst>
              <a:ext uri="{FF2B5EF4-FFF2-40B4-BE49-F238E27FC236}">
                <a16:creationId xmlns:a16="http://schemas.microsoft.com/office/drawing/2014/main" id="{295F6CE4-0FA1-A5CD-8C97-B1205ADC6FDC}"/>
              </a:ext>
            </a:extLst>
          </p:cNvPr>
          <p:cNvSpPr/>
          <p:nvPr/>
        </p:nvSpPr>
        <p:spPr>
          <a:xfrm>
            <a:off x="7150394" y="5229045"/>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ight Triangle 55">
            <a:extLst>
              <a:ext uri="{FF2B5EF4-FFF2-40B4-BE49-F238E27FC236}">
                <a16:creationId xmlns:a16="http://schemas.microsoft.com/office/drawing/2014/main" id="{2F1ADD10-1AD8-C86C-6F43-6E915F76B9B9}"/>
              </a:ext>
            </a:extLst>
          </p:cNvPr>
          <p:cNvSpPr/>
          <p:nvPr/>
        </p:nvSpPr>
        <p:spPr>
          <a:xfrm rot="10800000">
            <a:off x="8109792" y="2803423"/>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ight Triangle 57">
            <a:extLst>
              <a:ext uri="{FF2B5EF4-FFF2-40B4-BE49-F238E27FC236}">
                <a16:creationId xmlns:a16="http://schemas.microsoft.com/office/drawing/2014/main" id="{D40EB445-224E-5C1C-28F7-0B1A322A2C55}"/>
              </a:ext>
            </a:extLst>
          </p:cNvPr>
          <p:cNvSpPr/>
          <p:nvPr/>
        </p:nvSpPr>
        <p:spPr>
          <a:xfrm rot="10800000">
            <a:off x="4390786" y="2792479"/>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Right Triangle 59">
            <a:extLst>
              <a:ext uri="{FF2B5EF4-FFF2-40B4-BE49-F238E27FC236}">
                <a16:creationId xmlns:a16="http://schemas.microsoft.com/office/drawing/2014/main" id="{D4732DA5-514B-5EB7-C3C2-F51B20E45C37}"/>
              </a:ext>
            </a:extLst>
          </p:cNvPr>
          <p:cNvSpPr/>
          <p:nvPr/>
        </p:nvSpPr>
        <p:spPr>
          <a:xfrm flipV="1">
            <a:off x="3508190" y="2803423"/>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Right Triangle 61">
            <a:extLst>
              <a:ext uri="{FF2B5EF4-FFF2-40B4-BE49-F238E27FC236}">
                <a16:creationId xmlns:a16="http://schemas.microsoft.com/office/drawing/2014/main" id="{3FE970A1-5EF1-915D-0A9E-618A58E85797}"/>
              </a:ext>
            </a:extLst>
          </p:cNvPr>
          <p:cNvSpPr/>
          <p:nvPr/>
        </p:nvSpPr>
        <p:spPr>
          <a:xfrm flipV="1">
            <a:off x="10881947" y="2803423"/>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Right Triangle 63">
            <a:extLst>
              <a:ext uri="{FF2B5EF4-FFF2-40B4-BE49-F238E27FC236}">
                <a16:creationId xmlns:a16="http://schemas.microsoft.com/office/drawing/2014/main" id="{42D38C94-AE1F-0709-50D1-B9CF9549F82E}"/>
              </a:ext>
            </a:extLst>
          </p:cNvPr>
          <p:cNvSpPr/>
          <p:nvPr/>
        </p:nvSpPr>
        <p:spPr>
          <a:xfrm flipV="1">
            <a:off x="7143976" y="2803423"/>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Right Triangle 65">
            <a:extLst>
              <a:ext uri="{FF2B5EF4-FFF2-40B4-BE49-F238E27FC236}">
                <a16:creationId xmlns:a16="http://schemas.microsoft.com/office/drawing/2014/main" id="{3E8DEC77-D6DC-B4EE-10DC-3F957E65023D}"/>
              </a:ext>
            </a:extLst>
          </p:cNvPr>
          <p:cNvSpPr/>
          <p:nvPr/>
        </p:nvSpPr>
        <p:spPr>
          <a:xfrm flipH="1">
            <a:off x="745036" y="5229045"/>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Right Triangle 67">
            <a:extLst>
              <a:ext uri="{FF2B5EF4-FFF2-40B4-BE49-F238E27FC236}">
                <a16:creationId xmlns:a16="http://schemas.microsoft.com/office/drawing/2014/main" id="{83C2FE95-0F1C-882C-44BB-94AEE7A2A50C}"/>
              </a:ext>
            </a:extLst>
          </p:cNvPr>
          <p:cNvSpPr/>
          <p:nvPr/>
        </p:nvSpPr>
        <p:spPr>
          <a:xfrm flipH="1">
            <a:off x="8116210" y="5229045"/>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Right Triangle 69">
            <a:extLst>
              <a:ext uri="{FF2B5EF4-FFF2-40B4-BE49-F238E27FC236}">
                <a16:creationId xmlns:a16="http://schemas.microsoft.com/office/drawing/2014/main" id="{11E4EE86-2320-3EA6-DABA-D1899FD2F5D3}"/>
              </a:ext>
            </a:extLst>
          </p:cNvPr>
          <p:cNvSpPr/>
          <p:nvPr/>
        </p:nvSpPr>
        <p:spPr>
          <a:xfrm flipH="1">
            <a:off x="4370831" y="5234111"/>
            <a:ext cx="421561" cy="237226"/>
          </a:xfrm>
          <a:prstGeom prst="rtTriangl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81053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7" name="Lead Icon Hex"/>
          <p:cNvSpPr/>
          <p:nvPr/>
        </p:nvSpPr>
        <p:spPr>
          <a:xfrm>
            <a:off x="475766" y="1312108"/>
            <a:ext cx="457200" cy="395935"/>
          </a:xfrm>
          <a:prstGeom prst="hexagon">
            <a:avLst/>
          </a:prstGeom>
          <a:solidFill>
            <a:schemeClr val="accent3"/>
          </a:solidFill>
          <a:ln/>
        </p:spPr>
        <p:txBody>
          <a:bodyPr/>
          <a:lstStyle/>
          <a:p>
            <a:endParaRPr lang="en-IN" dirty="0"/>
          </a:p>
        </p:txBody>
      </p:sp>
      <p:pic>
        <p:nvPicPr>
          <p:cNvPr id="8" name="Lead Icon" descr="Lightbulb icon"/>
          <p:cNvPicPr>
            <a:picLocks noChangeAspect="1"/>
          </p:cNvPicPr>
          <p:nvPr/>
        </p:nvPicPr>
        <p:blipFill>
          <a:blip r:embed="rId3"/>
          <a:stretch>
            <a:fillRect/>
          </a:stretch>
        </p:blipFill>
        <p:spPr>
          <a:xfrm>
            <a:off x="552070" y="1372916"/>
            <a:ext cx="274320" cy="274320"/>
          </a:xfrm>
          <a:prstGeom prst="rect">
            <a:avLst/>
          </a:prstGeom>
        </p:spPr>
      </p:pic>
      <p:sp>
        <p:nvSpPr>
          <p:cNvPr id="9" name="Lead Text"/>
          <p:cNvSpPr txBox="1"/>
          <p:nvPr/>
        </p:nvSpPr>
        <p:spPr>
          <a:xfrm>
            <a:off x="1000242" y="1266697"/>
            <a:ext cx="9601200" cy="502920"/>
          </a:xfrm>
          <a:prstGeom prst="rect">
            <a:avLst/>
          </a:prstGeom>
          <a:noFill/>
          <a:ln/>
        </p:spPr>
        <p:txBody>
          <a:bodyPr wrap="square" lIns="0" tIns="0" rIns="0" bIns="0" rtlCol="0" anchor="ctr"/>
          <a:lstStyle/>
          <a:p>
            <a:pPr marL="0" indent="0">
              <a:buNone/>
            </a:pPr>
            <a:r>
              <a:rPr lang="en-US" sz="2000" b="1" i="1" dirty="0">
                <a:solidFill>
                  <a:schemeClr val="accent2"/>
                </a:solidFill>
              </a:rPr>
              <a:t>Resources required to solve the problem</a:t>
            </a:r>
            <a:endParaRPr lang="en-US" sz="2000" i="1" dirty="0"/>
          </a:p>
        </p:txBody>
      </p:sp>
      <p:sp>
        <p:nvSpPr>
          <p:cNvPr id="10" name="Prompts"/>
          <p:cNvSpPr txBox="1"/>
          <p:nvPr/>
        </p:nvSpPr>
        <p:spPr>
          <a:xfrm>
            <a:off x="457200" y="1877152"/>
            <a:ext cx="10424160" cy="128016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a:solidFill>
                  <a:schemeClr val="bg2">
                    <a:lumMod val="10000"/>
                  </a:schemeClr>
                </a:solidFill>
              </a:rPr>
              <a:t>Hardware Requirements</a:t>
            </a:r>
          </a:p>
          <a:p>
            <a:pPr marL="285750" lvl="0" indent="-285750">
              <a:buFont typeface="Wingdings" panose="05000000000000000000" pitchFamily="2" charset="2"/>
              <a:buChar char="ü"/>
            </a:pPr>
            <a:r>
              <a:rPr lang="en-IN" sz="1600" dirty="0"/>
              <a:t>A laptop or computer for developing and testing the application.</a:t>
            </a:r>
          </a:p>
          <a:p>
            <a:pPr marL="285750" lvl="0" indent="-285750">
              <a:buFont typeface="Wingdings" panose="05000000000000000000" pitchFamily="2" charset="2"/>
              <a:buChar char="ü"/>
            </a:pPr>
            <a:r>
              <a:rPr lang="en-IN" sz="1600" dirty="0"/>
              <a:t>Smartphones to check how students use the application on campus.</a:t>
            </a:r>
          </a:p>
          <a:p>
            <a:pPr marL="285750" lvl="0" indent="-285750">
              <a:buFont typeface="Wingdings" panose="05000000000000000000" pitchFamily="2" charset="2"/>
              <a:buChar char="ü"/>
            </a:pPr>
            <a:r>
              <a:rPr lang="en-IN" sz="1600" dirty="0"/>
              <a:t>An internet connection to access campus information and test the spam detector</a:t>
            </a:r>
            <a:endParaRPr lang="en-US" sz="1600" dirty="0"/>
          </a:p>
          <a:p>
            <a:pPr marL="285750" lvl="0" indent="-285750">
              <a:buFont typeface="Wingdings" panose="05000000000000000000" pitchFamily="2" charset="2"/>
              <a:buChar char="ü"/>
            </a:pPr>
            <a:endParaRPr lang="en-US" sz="1600" b="1" dirty="0">
              <a:solidFill>
                <a:schemeClr val="bg2">
                  <a:lumMod val="10000"/>
                </a:schemeClr>
              </a:solidFill>
            </a:endParaRPr>
          </a:p>
          <a:p>
            <a:pPr lvl="0"/>
            <a:r>
              <a:rPr lang="en-US" sz="1800" b="1" dirty="0">
                <a:solidFill>
                  <a:schemeClr val="bg2">
                    <a:lumMod val="10000"/>
                  </a:schemeClr>
                </a:solidFill>
              </a:rPr>
              <a:t>    Software Requirements</a:t>
            </a:r>
          </a:p>
          <a:p>
            <a:pPr marL="285750" lvl="0" indent="-285750">
              <a:buFont typeface="Wingdings" panose="05000000000000000000" pitchFamily="2" charset="2"/>
              <a:buChar char="q"/>
            </a:pPr>
            <a:r>
              <a:rPr lang="en-IN" sz="1600" dirty="0"/>
              <a:t>Python for developing the spam detection system.</a:t>
            </a:r>
          </a:p>
          <a:p>
            <a:pPr marL="285750" lvl="0" indent="-285750">
              <a:buFont typeface="Wingdings" panose="05000000000000000000" pitchFamily="2" charset="2"/>
              <a:buChar char="q"/>
            </a:pPr>
            <a:r>
              <a:rPr lang="en-IN" sz="1600" dirty="0"/>
              <a:t>A web or mobile application framework .</a:t>
            </a:r>
          </a:p>
          <a:p>
            <a:pPr marL="285750" lvl="0" indent="-285750">
              <a:buFont typeface="Wingdings" panose="05000000000000000000" pitchFamily="2" charset="2"/>
              <a:buChar char="q"/>
            </a:pPr>
            <a:r>
              <a:rPr lang="en-IN" sz="1600" dirty="0"/>
              <a:t>A database to store campus information, event updates, and useful contacts.</a:t>
            </a:r>
          </a:p>
          <a:p>
            <a:pPr marL="285750" lvl="0" indent="-285750">
              <a:buFont typeface="Wingdings" panose="05000000000000000000" pitchFamily="2" charset="2"/>
              <a:buChar char="q"/>
            </a:pPr>
            <a:r>
              <a:rPr lang="en-IN" sz="1600" dirty="0"/>
              <a:t>AI and machine learning tools to identify unwanted or suspicious messages.</a:t>
            </a:r>
          </a:p>
          <a:p>
            <a:pPr>
              <a:spcAft>
                <a:spcPts val="1000"/>
              </a:spcAft>
              <a:buClr>
                <a:schemeClr val="accent1"/>
              </a:buClr>
              <a:buSzPct val="100000"/>
            </a:pPr>
            <a:endParaRPr lang="en-US" sz="1600" dirty="0"/>
          </a:p>
          <a:p>
            <a:pPr>
              <a:spcAft>
                <a:spcPts val="1000"/>
              </a:spcAft>
              <a:buClr>
                <a:schemeClr val="accent1"/>
              </a:buClr>
              <a:buSzPct val="100000"/>
            </a:pPr>
            <a:r>
              <a:rPr lang="en-US" sz="1600" b="1" dirty="0">
                <a:solidFill>
                  <a:schemeClr val="bg2">
                    <a:lumMod val="10000"/>
                  </a:schemeClr>
                </a:solidFill>
              </a:rPr>
              <a:t>     </a:t>
            </a:r>
            <a:r>
              <a:rPr lang="en-US" b="1" dirty="0">
                <a:solidFill>
                  <a:schemeClr val="bg2">
                    <a:lumMod val="10000"/>
                  </a:schemeClr>
                </a:solidFill>
              </a:rPr>
              <a:t>Other resources (Including Human Resources)</a:t>
            </a:r>
          </a:p>
          <a:p>
            <a:pPr marL="285750" lvl="0" indent="-285750">
              <a:buFont typeface="Wingdings" panose="05000000000000000000" pitchFamily="2" charset="2"/>
              <a:buChar char="Ø"/>
            </a:pPr>
            <a:r>
              <a:rPr lang="en-IN" sz="1600" dirty="0"/>
              <a:t>Students to share their common campus problems and give feedback.</a:t>
            </a:r>
          </a:p>
          <a:p>
            <a:pPr marL="285750" lvl="0" indent="-285750">
              <a:buFont typeface="Wingdings" panose="05000000000000000000" pitchFamily="2" charset="2"/>
              <a:buChar char="Ø"/>
            </a:pPr>
            <a:r>
              <a:rPr lang="en-IN" sz="1600" dirty="0"/>
              <a:t>Faculty members or college staff to verify important campus information.</a:t>
            </a:r>
          </a:p>
          <a:p>
            <a:pPr marL="285750" indent="-285750">
              <a:spcAft>
                <a:spcPts val="1000"/>
              </a:spcAft>
              <a:buClr>
                <a:schemeClr val="accent1"/>
              </a:buClr>
              <a:buSzPct val="100000"/>
              <a:buFont typeface="Wingdings" panose="05000000000000000000" pitchFamily="2" charset="2"/>
              <a:buChar char="Ø"/>
            </a:pPr>
            <a:r>
              <a:rPr lang="en-IN" sz="1600" dirty="0"/>
              <a:t>Sample spam and genuine messages to test the system.</a:t>
            </a:r>
            <a:endParaRPr lang="en-US" sz="1600" b="1" dirty="0">
              <a:solidFill>
                <a:schemeClr val="bg2">
                  <a:lumMod val="10000"/>
                </a:schemeClr>
              </a:solidFill>
            </a:endParaRP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pic>
        <p:nvPicPr>
          <p:cNvPr id="30" name="Picture 29">
            <a:extLst>
              <a:ext uri="{FF2B5EF4-FFF2-40B4-BE49-F238E27FC236}">
                <a16:creationId xmlns:a16="http://schemas.microsoft.com/office/drawing/2014/main" id="{2F4F59A5-4F6E-88AA-894B-E5D4975588EA}"/>
              </a:ext>
            </a:extLst>
          </p:cNvPr>
          <p:cNvPicPr>
            <a:picLocks noChangeAspect="1"/>
          </p:cNvPicPr>
          <p:nvPr/>
        </p:nvPicPr>
        <p:blipFill>
          <a:blip r:embed="rId4"/>
          <a:stretch>
            <a:fillRect/>
          </a:stretch>
        </p:blipFill>
        <p:spPr>
          <a:xfrm>
            <a:off x="277438" y="1815578"/>
            <a:ext cx="409300" cy="409300"/>
          </a:xfrm>
          <a:prstGeom prst="rect">
            <a:avLst/>
          </a:prstGeom>
        </p:spPr>
      </p:pic>
      <p:pic>
        <p:nvPicPr>
          <p:cNvPr id="32" name="Picture 31">
            <a:extLst>
              <a:ext uri="{FF2B5EF4-FFF2-40B4-BE49-F238E27FC236}">
                <a16:creationId xmlns:a16="http://schemas.microsoft.com/office/drawing/2014/main" id="{D22E58B2-75C8-DB5F-02C9-0B2463835D77}"/>
              </a:ext>
            </a:extLst>
          </p:cNvPr>
          <p:cNvPicPr>
            <a:picLocks noChangeAspect="1"/>
          </p:cNvPicPr>
          <p:nvPr/>
        </p:nvPicPr>
        <p:blipFill>
          <a:blip r:embed="rId5"/>
          <a:stretch>
            <a:fillRect/>
          </a:stretch>
        </p:blipFill>
        <p:spPr>
          <a:xfrm flipH="1">
            <a:off x="254234" y="3158292"/>
            <a:ext cx="382587" cy="382587"/>
          </a:xfrm>
          <a:prstGeom prst="rect">
            <a:avLst/>
          </a:prstGeom>
        </p:spPr>
      </p:pic>
      <p:pic>
        <p:nvPicPr>
          <p:cNvPr id="34" name="Picture 33">
            <a:extLst>
              <a:ext uri="{FF2B5EF4-FFF2-40B4-BE49-F238E27FC236}">
                <a16:creationId xmlns:a16="http://schemas.microsoft.com/office/drawing/2014/main" id="{205405F9-8525-8828-AD6D-D70DCB3F78FD}"/>
              </a:ext>
            </a:extLst>
          </p:cNvPr>
          <p:cNvPicPr>
            <a:picLocks noChangeAspect="1"/>
          </p:cNvPicPr>
          <p:nvPr/>
        </p:nvPicPr>
        <p:blipFill>
          <a:blip r:embed="rId6"/>
          <a:stretch>
            <a:fillRect/>
          </a:stretch>
        </p:blipFill>
        <p:spPr>
          <a:xfrm flipH="1">
            <a:off x="254234" y="4827435"/>
            <a:ext cx="359245" cy="359245"/>
          </a:xfrm>
          <a:prstGeom prst="rect">
            <a:avLst/>
          </a:prstGeom>
        </p:spPr>
      </p:pic>
      <p:sp>
        <p:nvSpPr>
          <p:cNvPr id="50" name="Team Badge">
            <a:extLst>
              <a:ext uri="{FF2B5EF4-FFF2-40B4-BE49-F238E27FC236}">
                <a16:creationId xmlns:a16="http://schemas.microsoft.com/office/drawing/2014/main" id="{E100D5F9-44F2-DE05-E59E-43F572B36F64}"/>
              </a:ext>
            </a:extLst>
          </p:cNvPr>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52" name="Team Icon Hex">
            <a:extLst>
              <a:ext uri="{FF2B5EF4-FFF2-40B4-BE49-F238E27FC236}">
                <a16:creationId xmlns:a16="http://schemas.microsoft.com/office/drawing/2014/main" id="{687D6EDC-5EF0-E9E2-166B-FBE99B339589}"/>
              </a:ext>
            </a:extLst>
          </p:cNvPr>
          <p:cNvSpPr/>
          <p:nvPr/>
        </p:nvSpPr>
        <p:spPr>
          <a:xfrm>
            <a:off x="603504" y="457200"/>
            <a:ext cx="630936" cy="548640"/>
          </a:xfrm>
          <a:prstGeom prst="hexagon">
            <a:avLst/>
          </a:prstGeom>
          <a:solidFill>
            <a:schemeClr val="bg2"/>
          </a:solidFill>
          <a:ln w="9525">
            <a:solidFill>
              <a:schemeClr val="accent6"/>
            </a:solidFill>
            <a:prstDash val="solid"/>
          </a:ln>
        </p:spPr>
      </p:sp>
      <p:pic>
        <p:nvPicPr>
          <p:cNvPr id="54" name="Team Icon" descr="Team icon">
            <a:extLst>
              <a:ext uri="{FF2B5EF4-FFF2-40B4-BE49-F238E27FC236}">
                <a16:creationId xmlns:a16="http://schemas.microsoft.com/office/drawing/2014/main" id="{532FD4EE-3BE0-9EDE-07DF-311D44D91379}"/>
              </a:ext>
            </a:extLst>
          </p:cNvPr>
          <p:cNvPicPr>
            <a:picLocks noChangeAspect="1"/>
          </p:cNvPicPr>
          <p:nvPr/>
        </p:nvPicPr>
        <p:blipFill>
          <a:blip r:embed="rId7"/>
          <a:stretch>
            <a:fillRect/>
          </a:stretch>
        </p:blipFill>
        <p:spPr>
          <a:xfrm>
            <a:off x="736092" y="548640"/>
            <a:ext cx="365760" cy="365760"/>
          </a:xfrm>
          <a:prstGeom prst="rect">
            <a:avLst/>
          </a:prstGeom>
        </p:spPr>
      </p:pic>
      <p:sp>
        <p:nvSpPr>
          <p:cNvPr id="56" name="Team Name">
            <a:extLst>
              <a:ext uri="{FF2B5EF4-FFF2-40B4-BE49-F238E27FC236}">
                <a16:creationId xmlns:a16="http://schemas.microsoft.com/office/drawing/2014/main" id="{9E070006-AE77-DC3D-B630-704248A825E3}"/>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thefourbroskies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3475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388399"/>
            <a:ext cx="274320" cy="274320"/>
          </a:xfrm>
          <a:prstGeom prst="rect">
            <a:avLst/>
          </a:prstGeom>
        </p:spPr>
      </p:pic>
      <p:sp>
        <p:nvSpPr>
          <p:cNvPr id="9" name="Lead Text"/>
          <p:cNvSpPr txBox="1"/>
          <p:nvPr/>
        </p:nvSpPr>
        <p:spPr>
          <a:xfrm>
            <a:off x="1170432" y="129166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190499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a:solidFill>
                  <a:schemeClr val="tx1">
                    <a:lumMod val="90000"/>
                    <a:lumOff val="10000"/>
                  </a:schemeClr>
                </a:solidFill>
              </a:rPr>
              <a:t>What your team intends to do</a:t>
            </a:r>
          </a:p>
          <a:p>
            <a:pPr>
              <a:spcAft>
                <a:spcPts val="1000"/>
              </a:spcAft>
              <a:buClr>
                <a:schemeClr val="accent1"/>
              </a:buClr>
              <a:buSzPct val="100000"/>
            </a:pPr>
            <a:r>
              <a:rPr lang="en-US" dirty="0"/>
              <a:t>our team intends that, </a:t>
            </a:r>
            <a:r>
              <a:rPr lang="en-IN" dirty="0"/>
              <a:t>Instead of jumping between different websites to check timetables, attendance and course outcomes, a student can simply ask the app and get the answer right away. Alongside it, we’re adding a Spam Detector that connects to the student’s mail and flags which emails are genuinely from the college and which are fake or suspicious.</a:t>
            </a:r>
            <a:endParaRPr lang="en-US" dirty="0">
              <a:solidFill>
                <a:schemeClr val="tx1"/>
              </a:solidFill>
            </a:endParaRPr>
          </a:p>
          <a:p>
            <a:pPr marL="279400" indent="-279400">
              <a:spcAft>
                <a:spcPts val="1000"/>
              </a:spcAft>
              <a:buClr>
                <a:schemeClr val="accent1"/>
              </a:buClr>
              <a:buSzPct val="100000"/>
              <a:buChar char="•"/>
            </a:pPr>
            <a:r>
              <a:rPr lang="en-US" sz="1800" b="1" dirty="0">
                <a:solidFill>
                  <a:schemeClr val="tx1">
                    <a:lumMod val="90000"/>
                    <a:lumOff val="10000"/>
                  </a:schemeClr>
                </a:solidFill>
              </a:rPr>
              <a:t>What you want to improve</a:t>
            </a:r>
          </a:p>
          <a:p>
            <a:pPr>
              <a:spcAft>
                <a:spcPts val="1000"/>
              </a:spcAft>
              <a:buClr>
                <a:schemeClr val="accent1"/>
              </a:buClr>
              <a:buSzPct val="100000"/>
            </a:pPr>
            <a:r>
              <a:rPr lang="en-IN" dirty="0"/>
              <a:t>We aim to make campus life simpler and safer by giving freshers one clear place to find information in their first weeks, and by making it easy to tell official college emails from fraudulent ones.</a:t>
            </a:r>
            <a:endParaRPr lang="en-US" sz="1800" b="1" dirty="0">
              <a:solidFill>
                <a:schemeClr val="tx1">
                  <a:lumMod val="90000"/>
                  <a:lumOff val="10000"/>
                </a:schemeClr>
              </a:solidFill>
            </a:endParaRPr>
          </a:p>
          <a:p>
            <a:pPr marL="279400" indent="-279400">
              <a:spcAft>
                <a:spcPts val="1000"/>
              </a:spcAft>
              <a:buClr>
                <a:schemeClr val="accent1"/>
              </a:buClr>
              <a:buSzPct val="100000"/>
              <a:buChar char="•"/>
            </a:pPr>
            <a:r>
              <a:rPr lang="en-US" sz="1800" b="1" dirty="0">
                <a:solidFill>
                  <a:schemeClr val="tx1">
                    <a:lumMod val="90000"/>
                    <a:lumOff val="10000"/>
                  </a:schemeClr>
                </a:solidFill>
              </a:rPr>
              <a:t>What successful improvement should you achieve</a:t>
            </a:r>
          </a:p>
          <a:p>
            <a:pPr>
              <a:spcAft>
                <a:spcPts val="1000"/>
              </a:spcAft>
              <a:buClr>
                <a:schemeClr val="accent1"/>
              </a:buClr>
              <a:buSzPct val="100000"/>
            </a:pPr>
            <a:r>
              <a:rPr lang="en-IN" dirty="0"/>
              <a:t>A student can find their timetable, attendance and course details in one place, within a few seconds, without searching multiple sites. Students can tell official mails from spam at a glance, so fewer of them fall for fake mails or pass on wrong information.</a:t>
            </a:r>
            <a:endParaRPr lang="en-US" dirty="0"/>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
        <p:nvSpPr>
          <p:cNvPr id="12" name="Team Name">
            <a:extLst>
              <a:ext uri="{FF2B5EF4-FFF2-40B4-BE49-F238E27FC236}">
                <a16:creationId xmlns:a16="http://schemas.microsoft.com/office/drawing/2014/main" id="{718B20B3-9C4A-4E5B-BE96-F7565C967626}"/>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thefourbroskies</a:t>
            </a:r>
            <a:endParaRPr lang="en-US" sz="900" dirty="0"/>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265</TotalTime>
  <Words>1105</Words>
  <Application>Microsoft Office PowerPoint</Application>
  <PresentationFormat>Widescreen</PresentationFormat>
  <Paragraphs>132</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Arial Rounded MT Bold</vt:lpstr>
      <vt:lpstr>Britannic Bold</vt:lpstr>
      <vt:lpstr>Calibri</vt:lpstr>
      <vt:lpstr>Cambria</vt:lpstr>
      <vt:lpstr>Wingdings</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Tharigaa Dhatchinamurthy</cp:lastModifiedBy>
  <cp:revision>5</cp:revision>
  <dcterms:created xsi:type="dcterms:W3CDTF">2026-10-07T15:27:40Z</dcterms:created>
  <dcterms:modified xsi:type="dcterms:W3CDTF">2026-10-09T17:13:43Z</dcterms:modified>
</cp:coreProperties>
</file>